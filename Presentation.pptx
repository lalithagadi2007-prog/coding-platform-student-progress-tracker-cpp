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426" r:id="rId3"/>
    <p:sldId id="427" r:id="rId4"/>
    <p:sldId id="428" r:id="rId5"/>
    <p:sldId id="429" r:id="rId6"/>
    <p:sldId id="430" r:id="rId7"/>
    <p:sldId id="431" r:id="rId8"/>
    <p:sldId id="439" r:id="rId9"/>
    <p:sldId id="432" r:id="rId10"/>
    <p:sldId id="433" r:id="rId11"/>
    <p:sldId id="434" r:id="rId12"/>
    <p:sldId id="435" r:id="rId13"/>
    <p:sldId id="436" r:id="rId14"/>
    <p:sldId id="440" r:id="rId15"/>
    <p:sldId id="438" r:id="rId16"/>
    <p:sldId id="29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0327" autoAdjust="0"/>
  </p:normalViewPr>
  <p:slideViewPr>
    <p:cSldViewPr>
      <p:cViewPr varScale="1">
        <p:scale>
          <a:sx n="74" d="100"/>
          <a:sy n="74" d="100"/>
        </p:scale>
        <p:origin x="878" y="1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29-08-2026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Artificial Intelligence                                                                Dr. M. Vamsikrishna, Professor &amp; HoD, DCA.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29-08-2026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Artificial Intelligence                                                                Dr. M. Vamsikrishna, Professor &amp; HoD, DCA.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29-08-2026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Artificial Intelligence                                                                        Dr. M. Vamsikrishna, Professor &amp; HoD, DCA.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47694" y="2155290"/>
            <a:ext cx="10696612" cy="160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3600" dirty="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OOPS Through C++ Capstone Project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FF0000"/>
                </a:solidFill>
                <a:latin typeface="Tw Cen MT" pitchFamily="34" charset="0"/>
                <a:ea typeface="+mj-ea"/>
                <a:cs typeface="+mj-cs"/>
              </a:rPr>
              <a:t>Coding Platform / Student Progress Tracker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79376" y="4675366"/>
            <a:ext cx="4710348" cy="17059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b="1" dirty="0">
                <a:solidFill>
                  <a:srgbClr val="002060"/>
                </a:solidFill>
                <a:latin typeface="Maiandra GD" panose="020E0502030308020204" pitchFamily="34" charset="0"/>
              </a:rPr>
              <a:t>Presentation By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dirty="0">
                <a:solidFill>
                  <a:srgbClr val="002060"/>
                </a:solidFill>
                <a:latin typeface="Maiandra GD" panose="020E0502030308020204" pitchFamily="34" charset="0"/>
              </a:rPr>
              <a:t>GADI V </a:t>
            </a:r>
            <a:r>
              <a:rPr lang="en-US" sz="2000" dirty="0" err="1">
                <a:solidFill>
                  <a:srgbClr val="002060"/>
                </a:solidFill>
                <a:latin typeface="Maiandra GD" panose="020E0502030308020204" pitchFamily="34" charset="0"/>
              </a:rPr>
              <a:t>V</a:t>
            </a:r>
            <a:r>
              <a:rPr lang="en-US" sz="2000" dirty="0">
                <a:solidFill>
                  <a:srgbClr val="002060"/>
                </a:solidFill>
                <a:latin typeface="Maiandra GD" panose="020E0502030308020204" pitchFamily="34" charset="0"/>
              </a:rPr>
              <a:t> LALITHA JAHANVI(25B11AI586)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dirty="0">
                <a:solidFill>
                  <a:srgbClr val="0B1B3A"/>
                </a:solidFill>
                <a:latin typeface="Maiandra GD" panose="020E0502030308020204" pitchFamily="34" charset="0"/>
                <a:ea typeface="Calibri" pitchFamily="34" charset="-122"/>
                <a:cs typeface="Times New Roman" panose="02020603050405020304" pitchFamily="18" charset="0"/>
              </a:rPr>
              <a:t>NUJELLA PADMINI (</a:t>
            </a:r>
            <a:r>
              <a:rPr lang="en-US" sz="2000" dirty="0">
                <a:solidFill>
                  <a:srgbClr val="0B1B3A"/>
                </a:solidFill>
                <a:latin typeface="Maiandra GD" panose="020E0502030308020204" pitchFamily="34" charset="0"/>
                <a:ea typeface="Calibri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25B11AI854)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dirty="0">
                <a:solidFill>
                  <a:srgbClr val="0B1B3A"/>
                </a:solidFill>
                <a:latin typeface="Maiandra GD" panose="020E0502030308020204" pitchFamily="34" charset="0"/>
                <a:ea typeface="Calibri" pitchFamily="34" charset="-122"/>
                <a:cs typeface="Times New Roman" panose="02020603050405020304" pitchFamily="18" charset="0"/>
              </a:rPr>
              <a:t>PATNALA MEENAMRUTHA SRI NUKAMBIKA</a:t>
            </a:r>
            <a:r>
              <a:rPr lang="en-US" sz="2000" dirty="0">
                <a:solidFill>
                  <a:srgbClr val="0B1B3A"/>
                </a:solidFill>
                <a:latin typeface="Maiandra GD" panose="020E0502030308020204" pitchFamily="34" charset="0"/>
                <a:ea typeface="Calibri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 (25B11AI914)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 dirty="0">
                <a:solidFill>
                  <a:srgbClr val="0B1B3A"/>
                </a:solidFill>
                <a:latin typeface="Maiandra GD" panose="020E0502030308020204" pitchFamily="34" charset="0"/>
                <a:ea typeface="Calibri" pitchFamily="34" charset="-122"/>
                <a:cs typeface="Times New Roman" panose="02020603050405020304" pitchFamily="18" charset="0"/>
              </a:rPr>
              <a:t>ALLAKA JYOTHSNA </a:t>
            </a:r>
            <a:r>
              <a:rPr lang="en-US" sz="2000" dirty="0">
                <a:solidFill>
                  <a:srgbClr val="0B1B3A"/>
                </a:solidFill>
                <a:latin typeface="Maiandra GD" panose="020E0502030308020204" pitchFamily="34" charset="0"/>
                <a:ea typeface="Calibri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(25B11AI027)</a:t>
            </a:r>
            <a:endParaRPr lang="en-US" sz="2000" dirty="0">
              <a:latin typeface="Maiandra GD" panose="020E0502030308020204" pitchFamily="34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>
              <a:lnSpc>
                <a:spcPct val="90000"/>
              </a:lnSpc>
              <a:spcBef>
                <a:spcPts val="1000"/>
              </a:spcBef>
              <a:defRPr/>
            </a:pPr>
            <a:endParaRPr lang="en-IN" sz="2000" b="1" dirty="0">
              <a:solidFill>
                <a:srgbClr val="002060"/>
              </a:solidFill>
              <a:latin typeface="Maiandra GD" panose="020E0502030308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B6ADB66-A6C8-1057-F193-83DD6FBC229C}"/>
              </a:ext>
            </a:extLst>
          </p:cNvPr>
          <p:cNvSpPr txBox="1">
            <a:spLocks/>
          </p:cNvSpPr>
          <p:nvPr/>
        </p:nvSpPr>
        <p:spPr>
          <a:xfrm>
            <a:off x="6570228" y="4747374"/>
            <a:ext cx="4710348" cy="14179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aiandra GD" panose="020E0502030308020204" pitchFamily="34" charset="0"/>
              </a:rPr>
              <a:t>Under the Supervision of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rgbClr val="002060"/>
                </a:solidFill>
                <a:latin typeface="Maiandra GD" panose="020E0502030308020204" pitchFamily="34" charset="0"/>
              </a:rPr>
              <a:t>Dr. </a:t>
            </a:r>
            <a:r>
              <a:rPr lang="en-US" sz="2000" dirty="0" err="1">
                <a:solidFill>
                  <a:srgbClr val="002060"/>
                </a:solidFill>
                <a:latin typeface="Maiandra GD" panose="020E0502030308020204" pitchFamily="34" charset="0"/>
              </a:rPr>
              <a:t>Maganti</a:t>
            </a:r>
            <a:r>
              <a:rPr lang="en-US" sz="2000" dirty="0">
                <a:solidFill>
                  <a:srgbClr val="002060"/>
                </a:solidFill>
                <a:latin typeface="Maiandra GD" panose="020E0502030308020204" pitchFamily="34" charset="0"/>
              </a:rPr>
              <a:t> Venkatesh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aiandra GD" panose="020E0502030308020204" pitchFamily="34" charset="0"/>
              </a:rPr>
              <a:t>Associate Professor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rgbClr val="002060"/>
                </a:solidFill>
                <a:latin typeface="Maiandra GD" panose="020E0502030308020204" pitchFamily="34" charset="0"/>
              </a:rPr>
              <a:t>Department of AIML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232461"/>
            <a:ext cx="464347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400" b="1" dirty="0">
                <a:solidFill>
                  <a:srgbClr val="0070C0"/>
                </a:solidFill>
                <a:latin typeface="Maiandra GD" pitchFamily="34" charset="0"/>
              </a:rPr>
              <a:t>Index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349D6-78E7-DAAB-A794-F1A12934171A}"/>
              </a:ext>
            </a:extLst>
          </p:cNvPr>
          <p:cNvSpPr txBox="1"/>
          <p:nvPr/>
        </p:nvSpPr>
        <p:spPr>
          <a:xfrm>
            <a:off x="755594" y="1052736"/>
            <a:ext cx="7200000" cy="540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Abstract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Introduction / Project Overview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Objectives of Project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Users of the System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Coding Platforms Supported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Modules / Functionalities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System Architecture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Class Design and OOP Concepts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ER Diagram – Key Relationships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Planning and Timeline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Role of Each Individual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755594" y="232461"/>
            <a:ext cx="10979206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Maiandra GD" pitchFamily="34" charset="0"/>
              </a:rPr>
              <a:t>ABSTRACT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594" y="1120000"/>
            <a:ext cx="10680812" cy="54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Coding Platform / Student Progress Tracker is an OOP-based C++ application built to manage coding practice activity and track student programming progress in one place.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The system defines three user roles – Admin, Faculty, and Student – each with a distinct set of responsibilities and permissions.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Admin maintains students, faculty, coding platforms, and the master problem list.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Faculty add and assign coding problems, monitor submissions, and generate performance reports.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Students view assigned problems, update their status, record submissions, and track their own solved/pending progress.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It supports popular platforms – LeetCode, CodeChef, HackerRank, GeeksforGeeks, and Codeforces – within a single interface.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The project demonstrates core C++ OOP concepts: encapsulation, inheritance, polymorphism, abstraction, classes, objects, and file handling.</a:t>
            </a: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053988" y="232461"/>
            <a:ext cx="10680812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Maiandra GD" pitchFamily="34" charset="0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594" y="1120000"/>
            <a:ext cx="10680812" cy="54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IN" sz="1900" dirty="0">
                <a:latin typeface="Maiandra GD" panose="020E0502030308020204" pitchFamily="34" charset="0"/>
              </a:rPr>
              <a:t>Students today practice on many different platforms, so their assigned work, submissions, and progress end up scattered across separate </a:t>
            </a:r>
            <a:r>
              <a:rPr lang="en-IN" sz="1900" dirty="0" err="1">
                <a:latin typeface="Maiandra GD" panose="020E0502030308020204" pitchFamily="34" charset="0"/>
              </a:rPr>
              <a:t>accounts.Faculty</a:t>
            </a:r>
            <a:r>
              <a:rPr lang="en-IN" sz="1900" dirty="0">
                <a:latin typeface="Maiandra GD" panose="020E0502030308020204" pitchFamily="34" charset="0"/>
              </a:rPr>
              <a:t> have no single place to assign problems, check submissions, or measure how a batch of students is actually improving.</a:t>
            </a:r>
          </a:p>
          <a:p>
            <a:pPr marL="342900" lvl="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IN" sz="1900" dirty="0">
                <a:latin typeface="Maiandra GD" panose="020E0502030308020204" pitchFamily="34" charset="0"/>
              </a:rPr>
              <a:t>This project brings both sides together in one C++ OOP application built around five real-world entities: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     </a:t>
            </a:r>
            <a:r>
              <a:rPr lang="en-IN" sz="1800" dirty="0">
                <a:latin typeface="Maiandra GD" panose="020E0502030308020204" pitchFamily="34" charset="0"/>
              </a:rPr>
              <a:t>Person (Admin, Faculty, Student) – who uses the system and what they can do</a:t>
            </a:r>
          </a:p>
          <a:p>
            <a:pPr marL="342900" lvl="1">
              <a:lnSpc>
                <a:spcPct val="130000"/>
              </a:lnSpc>
            </a:pPr>
            <a:r>
              <a:rPr lang="en-IN" sz="1800" dirty="0">
                <a:latin typeface="Maiandra GD" panose="020E0502030308020204" pitchFamily="34" charset="0"/>
              </a:rPr>
              <a:t>Platform – the external coding sites the problems come from</a:t>
            </a:r>
          </a:p>
          <a:p>
            <a:pPr marL="342900" lvl="1">
              <a:lnSpc>
                <a:spcPct val="130000"/>
              </a:lnSpc>
            </a:pPr>
            <a:r>
              <a:rPr lang="en-IN" sz="1800" dirty="0">
                <a:latin typeface="Maiandra GD" panose="020E0502030308020204" pitchFamily="34" charset="0"/>
              </a:rPr>
              <a:t>Problem, Submission, Progress – the coding work itself and how it is measured</a:t>
            </a:r>
          </a:p>
          <a:p>
            <a:pPr lvl="0">
              <a:lnSpc>
                <a:spcPct val="140000"/>
              </a:lnSpc>
            </a:pPr>
            <a:r>
              <a:rPr lang="en-IN" sz="1900" dirty="0">
                <a:latin typeface="Maiandra GD" panose="020E0502030308020204" pitchFamily="34" charset="0"/>
              </a:rPr>
              <a:t>    The goal is to replace manual tracking (spreadsheets, WhatsApp updates, memory) with a       structured, centralized system.</a:t>
            </a: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415480" y="232461"/>
            <a:ext cx="1031932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Maiandra GD" pitchFamily="34" charset="0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594" y="1120000"/>
            <a:ext cx="10680812" cy="54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Students practice programming across multiple independent platforms – LeetCode, CodeChef, HackerRank, GeeksforGeeks, and Codeforces.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As a result, their assigned problems, submissions, solved problems, and overall progress remain scattered across different platforms with no single view.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Maiandra GD" panose="020E0502030308020204" pitchFamily="34" charset="0"/>
              </a:rPr>
              <a:t>Faculty members struggle to assign problems, monitor student activity, and prepare progress reports manually, which is slow and error-prone.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Maiandra GD" panose="020E0502030308020204" pitchFamily="34" charset="0"/>
              </a:rPr>
              <a:t>There is a clear need for a centralized Coding Platform / Student Progress Tracker where administrators and faculty can manage coding activity while students record and monitor their own progress in one system.</a:t>
            </a: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100000" y="232461"/>
            <a:ext cx="86348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Maiandra GD" pitchFamily="34" charset="0"/>
              </a:rPr>
              <a:t>OBJECTIVES OF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594" y="1120000"/>
            <a:ext cx="10680812" cy="54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Develop a centralized coding-activity management system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Manage students and faculty records efficiently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Maintain coding problems sourced from multiple platforms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Allow faculty to assign coding problems to students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Record and store student submissions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Track the coding progress of individual students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Generate student performance reports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Reduce manual, spreadsheet-based record keeping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Encourage students to practice coding regularly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900" dirty="0">
                <a:latin typeface="Maiandra GD" panose="020E0502030308020204" pitchFamily="34" charset="0"/>
              </a:rPr>
              <a:t>Demonstrate core OOP concepts using C++ in a real-world application</a:t>
            </a: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199456" y="232461"/>
            <a:ext cx="10535344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Maiandra GD" pitchFamily="34" charset="0"/>
              </a:rPr>
              <a:t>USERS OF THE SYSTEM</a:t>
            </a:r>
          </a:p>
        </p:txBody>
      </p:sp>
      <p:sp>
        <p:nvSpPr>
          <p:cNvPr id="20" name="Box 20"/>
          <p:cNvSpPr/>
          <p:nvPr/>
        </p:nvSpPr>
        <p:spPr>
          <a:xfrm>
            <a:off x="522678" y="1556792"/>
            <a:ext cx="3559200" cy="1052856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Label 21"/>
          <p:cNvSpPr txBox="1"/>
          <p:nvPr/>
        </p:nvSpPr>
        <p:spPr>
          <a:xfrm>
            <a:off x="337031" y="1773220"/>
            <a:ext cx="35592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  <a:latin typeface="Maiandra GD" pitchFamily="34" charset="0"/>
              </a:rPr>
              <a:t>ADMIN</a:t>
            </a:r>
          </a:p>
        </p:txBody>
      </p:sp>
      <p:sp>
        <p:nvSpPr>
          <p:cNvPr id="23" name="Box 23"/>
          <p:cNvSpPr/>
          <p:nvPr/>
        </p:nvSpPr>
        <p:spPr>
          <a:xfrm>
            <a:off x="519781" y="3034247"/>
            <a:ext cx="3559200" cy="1052856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" name="Label 24"/>
          <p:cNvSpPr txBox="1"/>
          <p:nvPr/>
        </p:nvSpPr>
        <p:spPr>
          <a:xfrm>
            <a:off x="337031" y="3248119"/>
            <a:ext cx="35592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  <a:latin typeface="Maiandra GD" pitchFamily="34" charset="0"/>
              </a:rPr>
              <a:t>FACULTY</a:t>
            </a:r>
          </a:p>
        </p:txBody>
      </p:sp>
      <p:sp>
        <p:nvSpPr>
          <p:cNvPr id="26" name="Box 26"/>
          <p:cNvSpPr/>
          <p:nvPr/>
        </p:nvSpPr>
        <p:spPr>
          <a:xfrm>
            <a:off x="519781" y="4723018"/>
            <a:ext cx="3559200" cy="1052856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Label 27"/>
          <p:cNvSpPr txBox="1"/>
          <p:nvPr/>
        </p:nvSpPr>
        <p:spPr>
          <a:xfrm>
            <a:off x="361021" y="4939446"/>
            <a:ext cx="35592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  <a:latin typeface="Maiandra GD" pitchFamily="34" charset="0"/>
              </a:rPr>
              <a:t>STUDENT</a:t>
            </a: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845E-9347-9EFD-926D-5EEF8BBA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C9FA19-A3C4-54E4-E3C7-D9DEECB2AA66}"/>
              </a:ext>
            </a:extLst>
          </p:cNvPr>
          <p:cNvSpPr txBox="1">
            <a:spLocks/>
          </p:cNvSpPr>
          <p:nvPr/>
        </p:nvSpPr>
        <p:spPr>
          <a:xfrm>
            <a:off x="3100000" y="232461"/>
            <a:ext cx="86348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Maiandra GD" pitchFamily="34" charset="0"/>
              </a:rPr>
              <a:t>PURPOSE OF THE USERS IN THE SYSTEM</a:t>
            </a:r>
          </a:p>
        </p:txBody>
      </p:sp>
      <p:sp>
        <p:nvSpPr>
          <p:cNvPr id="20" name="Box 20">
            <a:extLst>
              <a:ext uri="{FF2B5EF4-FFF2-40B4-BE49-F238E27FC236}">
                <a16:creationId xmlns:a16="http://schemas.microsoft.com/office/drawing/2014/main" id="{B6E1EE22-EA04-5F71-40FC-5B263F51023A}"/>
              </a:ext>
            </a:extLst>
          </p:cNvPr>
          <p:cNvSpPr/>
          <p:nvPr/>
        </p:nvSpPr>
        <p:spPr>
          <a:xfrm>
            <a:off x="457200" y="1080000"/>
            <a:ext cx="3559200" cy="5350000"/>
          </a:xfrm>
          <a:prstGeom prst="roundRect">
            <a:avLst>
              <a:gd name="adj" fmla="val 6000"/>
            </a:avLst>
          </a:prstGeom>
          <a:solidFill>
            <a:srgbClr val="E7F0FB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Label 21">
            <a:extLst>
              <a:ext uri="{FF2B5EF4-FFF2-40B4-BE49-F238E27FC236}">
                <a16:creationId xmlns:a16="http://schemas.microsoft.com/office/drawing/2014/main" id="{C2BA1701-A4DC-BAAF-A7C4-086D3E5CAD83}"/>
              </a:ext>
            </a:extLst>
          </p:cNvPr>
          <p:cNvSpPr txBox="1"/>
          <p:nvPr/>
        </p:nvSpPr>
        <p:spPr>
          <a:xfrm>
            <a:off x="457200" y="1200000"/>
            <a:ext cx="35592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  <a:latin typeface="Maiandra GD" pitchFamily="34" charset="0"/>
              </a:rPr>
              <a:t>ADMIN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9FFAF99-5DC2-76DC-41B1-469030C239BE}"/>
              </a:ext>
            </a:extLst>
          </p:cNvPr>
          <p:cNvSpPr txBox="1"/>
          <p:nvPr/>
        </p:nvSpPr>
        <p:spPr>
          <a:xfrm>
            <a:off x="677200" y="1920000"/>
            <a:ext cx="3119200" cy="429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Manage students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Manage faculty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Manage coding platforms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Manage coding problems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Add / update / remove user records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Maintain the overall system</a:t>
            </a:r>
          </a:p>
        </p:txBody>
      </p:sp>
      <p:sp>
        <p:nvSpPr>
          <p:cNvPr id="23" name="Box 23">
            <a:extLst>
              <a:ext uri="{FF2B5EF4-FFF2-40B4-BE49-F238E27FC236}">
                <a16:creationId xmlns:a16="http://schemas.microsoft.com/office/drawing/2014/main" id="{E7CD7487-D5C3-20B0-25E3-4885048FA2B8}"/>
              </a:ext>
            </a:extLst>
          </p:cNvPr>
          <p:cNvSpPr/>
          <p:nvPr/>
        </p:nvSpPr>
        <p:spPr>
          <a:xfrm>
            <a:off x="4316400" y="1080000"/>
            <a:ext cx="3559200" cy="5350000"/>
          </a:xfrm>
          <a:prstGeom prst="roundRect">
            <a:avLst>
              <a:gd name="adj" fmla="val 6000"/>
            </a:avLst>
          </a:prstGeom>
          <a:solidFill>
            <a:srgbClr val="EAF7F0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4" name="Label 24">
            <a:extLst>
              <a:ext uri="{FF2B5EF4-FFF2-40B4-BE49-F238E27FC236}">
                <a16:creationId xmlns:a16="http://schemas.microsoft.com/office/drawing/2014/main" id="{6978F168-D815-0455-4083-0BEF5C132D3A}"/>
              </a:ext>
            </a:extLst>
          </p:cNvPr>
          <p:cNvSpPr txBox="1"/>
          <p:nvPr/>
        </p:nvSpPr>
        <p:spPr>
          <a:xfrm>
            <a:off x="4316400" y="1200000"/>
            <a:ext cx="35592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  <a:latin typeface="Maiandra GD" pitchFamily="34" charset="0"/>
              </a:rPr>
              <a:t>FACULTY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78D98E8-E6C7-87C7-9F32-90079B33A153}"/>
              </a:ext>
            </a:extLst>
          </p:cNvPr>
          <p:cNvSpPr txBox="1"/>
          <p:nvPr/>
        </p:nvSpPr>
        <p:spPr>
          <a:xfrm>
            <a:off x="4536400" y="1920000"/>
            <a:ext cx="3119200" cy="429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Add coding problems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Assign problems to students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View student submissions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Monitor student progress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Generate progress reports</a:t>
            </a:r>
          </a:p>
        </p:txBody>
      </p:sp>
      <p:sp>
        <p:nvSpPr>
          <p:cNvPr id="26" name="Box 26">
            <a:extLst>
              <a:ext uri="{FF2B5EF4-FFF2-40B4-BE49-F238E27FC236}">
                <a16:creationId xmlns:a16="http://schemas.microsoft.com/office/drawing/2014/main" id="{CCDD1115-12EC-1D33-088F-AB292640577B}"/>
              </a:ext>
            </a:extLst>
          </p:cNvPr>
          <p:cNvSpPr/>
          <p:nvPr/>
        </p:nvSpPr>
        <p:spPr>
          <a:xfrm>
            <a:off x="8175600" y="1080000"/>
            <a:ext cx="3559200" cy="5350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7" name="Label 27">
            <a:extLst>
              <a:ext uri="{FF2B5EF4-FFF2-40B4-BE49-F238E27FC236}">
                <a16:creationId xmlns:a16="http://schemas.microsoft.com/office/drawing/2014/main" id="{DD38529A-517A-C419-A267-CA1AC92E26AB}"/>
              </a:ext>
            </a:extLst>
          </p:cNvPr>
          <p:cNvSpPr txBox="1"/>
          <p:nvPr/>
        </p:nvSpPr>
        <p:spPr>
          <a:xfrm>
            <a:off x="8175600" y="1200000"/>
            <a:ext cx="3559200" cy="6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  <a:latin typeface="Maiandra GD" pitchFamily="34" charset="0"/>
              </a:rPr>
              <a:t>STUDENT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E8807CD-A983-BEF5-8B5A-531ADFF2BE02}"/>
              </a:ext>
            </a:extLst>
          </p:cNvPr>
          <p:cNvSpPr txBox="1"/>
          <p:nvPr/>
        </p:nvSpPr>
        <p:spPr>
          <a:xfrm>
            <a:off x="8395600" y="1920000"/>
            <a:ext cx="3119200" cy="429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View assigned problems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Update problem status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Record submissions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View personal progress</a:t>
            </a:r>
          </a:p>
          <a:p>
            <a:pPr marL="342900" lvl="0" indent="-342900">
              <a:lnSpc>
                <a:spcPct val="135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Track solved / pending problems</a:t>
            </a:r>
          </a:p>
        </p:txBody>
      </p:sp>
    </p:spTree>
    <p:extLst>
      <p:ext uri="{BB962C8B-B14F-4D97-AF65-F5344CB8AC3E}">
        <p14:creationId xmlns:p14="http://schemas.microsoft.com/office/powerpoint/2010/main" val="3118413144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100000" y="232461"/>
            <a:ext cx="86348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Maiandra GD" pitchFamily="34" charset="0"/>
              </a:rPr>
              <a:t>CODING PLATFORMS SUPPORTED</a:t>
            </a:r>
          </a:p>
        </p:txBody>
      </p:sp>
      <p:sp>
        <p:nvSpPr>
          <p:cNvPr id="30" name="Box 30"/>
          <p:cNvSpPr/>
          <p:nvPr/>
        </p:nvSpPr>
        <p:spPr>
          <a:xfrm>
            <a:off x="457200" y="1150000"/>
            <a:ext cx="5300000" cy="66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677200" y="1220000"/>
            <a:ext cx="486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IN" sz="1800" b="1" dirty="0">
                <a:latin typeface="Maiandra GD" panose="020E0502030308020204" pitchFamily="34" charset="0"/>
              </a:rPr>
              <a:t>LeetCode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IN" sz="1500" dirty="0">
                <a:latin typeface="Maiandra GD" panose="020E0502030308020204" pitchFamily="34" charset="0"/>
              </a:rPr>
              <a:t>Practice coding and interview problems</a:t>
            </a:r>
          </a:p>
        </p:txBody>
      </p:sp>
      <p:sp>
        <p:nvSpPr>
          <p:cNvPr id="32" name="Box 32"/>
          <p:cNvSpPr/>
          <p:nvPr/>
        </p:nvSpPr>
        <p:spPr>
          <a:xfrm>
            <a:off x="457200" y="1930000"/>
            <a:ext cx="5300000" cy="66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677200" y="2000000"/>
            <a:ext cx="486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IN" sz="1800" b="1" dirty="0">
                <a:latin typeface="Maiandra GD" panose="020E0502030308020204" pitchFamily="34" charset="0"/>
              </a:rPr>
              <a:t>CodeChef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IN" sz="1500" dirty="0">
                <a:latin typeface="Maiandra GD" panose="020E0502030308020204" pitchFamily="34" charset="0"/>
              </a:rPr>
              <a:t>Competitive programming and contests</a:t>
            </a:r>
          </a:p>
        </p:txBody>
      </p:sp>
      <p:sp>
        <p:nvSpPr>
          <p:cNvPr id="34" name="Box 34"/>
          <p:cNvSpPr/>
          <p:nvPr/>
        </p:nvSpPr>
        <p:spPr>
          <a:xfrm>
            <a:off x="457200" y="2710000"/>
            <a:ext cx="5300000" cy="66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Box 35"/>
          <p:cNvSpPr txBox="1"/>
          <p:nvPr/>
        </p:nvSpPr>
        <p:spPr>
          <a:xfrm>
            <a:off x="677200" y="2780000"/>
            <a:ext cx="486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IN" sz="1800" b="1" dirty="0">
                <a:latin typeface="Maiandra GD" panose="020E0502030308020204" pitchFamily="34" charset="0"/>
              </a:rPr>
              <a:t>HackerRank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IN" sz="1500" dirty="0">
                <a:latin typeface="Maiandra GD" panose="020E0502030308020204" pitchFamily="34" charset="0"/>
              </a:rPr>
              <a:t>Programming practice and skill assessment</a:t>
            </a:r>
          </a:p>
        </p:txBody>
      </p:sp>
      <p:sp>
        <p:nvSpPr>
          <p:cNvPr id="36" name="Box 36"/>
          <p:cNvSpPr/>
          <p:nvPr/>
        </p:nvSpPr>
        <p:spPr>
          <a:xfrm>
            <a:off x="457200" y="3490000"/>
            <a:ext cx="5300000" cy="66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677200" y="3560000"/>
            <a:ext cx="486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IN" sz="1800" b="1" dirty="0">
                <a:latin typeface="Maiandra GD" panose="020E0502030308020204" pitchFamily="34" charset="0"/>
              </a:rPr>
              <a:t>GeeksforGeeks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IN" sz="1500" dirty="0">
                <a:latin typeface="Maiandra GD" panose="020E0502030308020204" pitchFamily="34" charset="0"/>
              </a:rPr>
              <a:t>Programming and DSA practice</a:t>
            </a:r>
          </a:p>
        </p:txBody>
      </p:sp>
      <p:sp>
        <p:nvSpPr>
          <p:cNvPr id="38" name="Box 38"/>
          <p:cNvSpPr/>
          <p:nvPr/>
        </p:nvSpPr>
        <p:spPr>
          <a:xfrm>
            <a:off x="457200" y="4270000"/>
            <a:ext cx="5300000" cy="66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677200" y="4340000"/>
            <a:ext cx="4860000" cy="5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IN" sz="1800" b="1" dirty="0">
                <a:latin typeface="Maiandra GD" panose="020E0502030308020204" pitchFamily="34" charset="0"/>
              </a:rPr>
              <a:t>Codeforces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en-IN" sz="1500" dirty="0">
                <a:latin typeface="Maiandra GD" panose="020E0502030308020204" pitchFamily="34" charset="0"/>
              </a:rPr>
              <a:t>Competitive programming contests</a:t>
            </a:r>
          </a:p>
        </p:txBody>
      </p:sp>
      <p:sp>
        <p:nvSpPr>
          <p:cNvPr id="40" name="Box 40"/>
          <p:cNvSpPr/>
          <p:nvPr/>
        </p:nvSpPr>
        <p:spPr>
          <a:xfrm>
            <a:off x="6157200" y="1150000"/>
            <a:ext cx="5577600" cy="3780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" name="Label 41"/>
          <p:cNvSpPr txBox="1"/>
          <p:nvPr/>
        </p:nvSpPr>
        <p:spPr>
          <a:xfrm>
            <a:off x="6157200" y="1270000"/>
            <a:ext cx="5577600" cy="5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700" b="1" dirty="0">
                <a:solidFill>
                  <a:srgbClr val="0070C0"/>
                </a:solidFill>
                <a:latin typeface="Maiandra GD" pitchFamily="34" charset="0"/>
              </a:rPr>
              <a:t>Platform Class Stores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77200" y="1850000"/>
            <a:ext cx="5137600" cy="29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Platform ID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Platform Name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Website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>
                <a:latin typeface="Maiandra GD" panose="020E0502030308020204" pitchFamily="34" charset="0"/>
              </a:rPr>
              <a:t>Number of problems</a:t>
            </a: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100000" y="232461"/>
            <a:ext cx="86348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MODULES / FUNCTIONALITIES</a:t>
            </a:r>
          </a:p>
        </p:txBody>
      </p:sp>
      <p:sp>
        <p:nvSpPr>
          <p:cNvPr id="30" name="Box 30"/>
          <p:cNvSpPr/>
          <p:nvPr/>
        </p:nvSpPr>
        <p:spPr>
          <a:xfrm>
            <a:off x="457200" y="1080000"/>
            <a:ext cx="3559200" cy="2539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1" name="Label 31"/>
          <p:cNvSpPr txBox="1"/>
          <p:nvPr/>
        </p:nvSpPr>
        <p:spPr>
          <a:xfrm>
            <a:off x="457200" y="1170000"/>
            <a:ext cx="35592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500" b="1" dirty="0">
                <a:solidFill>
                  <a:srgbClr val="0070C0"/>
                </a:solidFill>
                <a:latin typeface="Maiandra GD" pitchFamily="34" charset="0"/>
              </a:rPr>
              <a:t>1. Admin Management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7200" y="1680000"/>
            <a:ext cx="3159200" cy="183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Add / update / delete students &amp; faculty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Manage coding platforms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Add / remove coding problems</a:t>
            </a:r>
          </a:p>
        </p:txBody>
      </p:sp>
      <p:sp>
        <p:nvSpPr>
          <p:cNvPr id="33" name="Box 33"/>
          <p:cNvSpPr/>
          <p:nvPr/>
        </p:nvSpPr>
        <p:spPr>
          <a:xfrm>
            <a:off x="4316400" y="1080000"/>
            <a:ext cx="3559200" cy="2539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4" name="Label 34"/>
          <p:cNvSpPr txBox="1"/>
          <p:nvPr/>
        </p:nvSpPr>
        <p:spPr>
          <a:xfrm>
            <a:off x="4316400" y="1170000"/>
            <a:ext cx="35592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500" b="1" dirty="0">
                <a:solidFill>
                  <a:srgbClr val="0070C0"/>
                </a:solidFill>
                <a:latin typeface="Maiandra GD" pitchFamily="34" charset="0"/>
              </a:rPr>
              <a:t>2. Faculty Management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16400" y="1680000"/>
            <a:ext cx="3159200" cy="183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Add problems, set difficulty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Assign problems to students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View submissions &amp; progress, generate reports</a:t>
            </a:r>
          </a:p>
        </p:txBody>
      </p:sp>
      <p:sp>
        <p:nvSpPr>
          <p:cNvPr id="36" name="Box 36"/>
          <p:cNvSpPr/>
          <p:nvPr/>
        </p:nvSpPr>
        <p:spPr>
          <a:xfrm>
            <a:off x="8175600" y="1080000"/>
            <a:ext cx="3559200" cy="2539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7" name="Label 37"/>
          <p:cNvSpPr txBox="1"/>
          <p:nvPr/>
        </p:nvSpPr>
        <p:spPr>
          <a:xfrm>
            <a:off x="8175600" y="1170000"/>
            <a:ext cx="35592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500" b="1" dirty="0">
                <a:solidFill>
                  <a:srgbClr val="0070C0"/>
                </a:solidFill>
                <a:latin typeface="Maiandra GD" pitchFamily="34" charset="0"/>
              </a:rPr>
              <a:t>3. Student Management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75600" y="1680000"/>
            <a:ext cx="3159200" cy="183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Login and view assigned problems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Update status, record submissions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View solved / pending problems &amp; overall progress</a:t>
            </a:r>
          </a:p>
        </p:txBody>
      </p:sp>
      <p:sp>
        <p:nvSpPr>
          <p:cNvPr id="39" name="Box 39"/>
          <p:cNvSpPr/>
          <p:nvPr/>
        </p:nvSpPr>
        <p:spPr>
          <a:xfrm>
            <a:off x="457200" y="3919000"/>
            <a:ext cx="3559200" cy="2539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0" name="Label 40"/>
          <p:cNvSpPr txBox="1"/>
          <p:nvPr/>
        </p:nvSpPr>
        <p:spPr>
          <a:xfrm>
            <a:off x="457200" y="4009000"/>
            <a:ext cx="35592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500" b="1" dirty="0">
                <a:solidFill>
                  <a:srgbClr val="0070C0"/>
                </a:solidFill>
                <a:latin typeface="Maiandra GD" pitchFamily="34" charset="0"/>
              </a:rPr>
              <a:t>4. Problem Management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7200" y="4519000"/>
            <a:ext cx="3159200" cy="183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Stores ID, title, platform, topic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Tracks difficulty and status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e.g. P101 – Two Sum – LeetCode – Easy</a:t>
            </a:r>
          </a:p>
        </p:txBody>
      </p:sp>
      <p:sp>
        <p:nvSpPr>
          <p:cNvPr id="42" name="Box 42"/>
          <p:cNvSpPr/>
          <p:nvPr/>
        </p:nvSpPr>
        <p:spPr>
          <a:xfrm>
            <a:off x="4316400" y="3919000"/>
            <a:ext cx="3559200" cy="2539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" name="Label 43"/>
          <p:cNvSpPr txBox="1"/>
          <p:nvPr/>
        </p:nvSpPr>
        <p:spPr>
          <a:xfrm>
            <a:off x="4316400" y="4009000"/>
            <a:ext cx="35592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500" b="1" dirty="0">
                <a:solidFill>
                  <a:srgbClr val="0070C0"/>
                </a:solidFill>
                <a:latin typeface="Maiandra GD" pitchFamily="34" charset="0"/>
              </a:rPr>
              <a:t>5. Submission Management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6400" y="4519000"/>
            <a:ext cx="3159200" cy="183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Records student, problem, platform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Logs submission count &amp; result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e.g. Accepted, Wrong Answer, TLE</a:t>
            </a:r>
          </a:p>
        </p:txBody>
      </p:sp>
      <p:sp>
        <p:nvSpPr>
          <p:cNvPr id="45" name="Box 45"/>
          <p:cNvSpPr/>
          <p:nvPr/>
        </p:nvSpPr>
        <p:spPr>
          <a:xfrm>
            <a:off x="8175600" y="3919000"/>
            <a:ext cx="3559200" cy="2539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" name="Label 46"/>
          <p:cNvSpPr txBox="1"/>
          <p:nvPr/>
        </p:nvSpPr>
        <p:spPr>
          <a:xfrm>
            <a:off x="8175600" y="4009000"/>
            <a:ext cx="35592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500" b="1" dirty="0">
                <a:solidFill>
                  <a:srgbClr val="0070C0"/>
                </a:solidFill>
                <a:latin typeface="Maiandra GD" pitchFamily="34" charset="0"/>
              </a:rPr>
              <a:t>6. Progress Tracking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75600" y="4519000"/>
            <a:ext cx="3159200" cy="183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Assigned / solved / pending counts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Total submissions &amp; success rate</a:t>
            </a:r>
          </a:p>
          <a:p>
            <a:pPr marL="342900" lvl="0" indent="-3429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IN" sz="1300" dirty="0">
                <a:latin typeface="Maiandra GD" panose="020E0502030308020204" pitchFamily="34" charset="0"/>
              </a:rPr>
              <a:t>e.g. 20 assigned, 15 solved, 60% success</a:t>
            </a: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343472" y="232461"/>
            <a:ext cx="10391328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3B81C4-901A-EFEA-DAA6-EDAD9AE2D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25539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100000" y="232461"/>
            <a:ext cx="86348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latin typeface="Maiandra GD" pitchFamily="34" charset="0"/>
              </a:rPr>
              <a:t>CLASS DESIGN &amp; OOP CONCEPTS</a:t>
            </a:r>
          </a:p>
        </p:txBody>
      </p:sp>
      <p:sp>
        <p:nvSpPr>
          <p:cNvPr id="40" name="Box 40"/>
          <p:cNvSpPr/>
          <p:nvPr/>
        </p:nvSpPr>
        <p:spPr>
          <a:xfrm>
            <a:off x="2250000" y="1150000"/>
            <a:ext cx="1900000" cy="480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" name="Label 41"/>
          <p:cNvSpPr txBox="1"/>
          <p:nvPr/>
        </p:nvSpPr>
        <p:spPr>
          <a:xfrm>
            <a:off x="2250000" y="1150000"/>
            <a:ext cx="19000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700" b="1" dirty="0">
                <a:solidFill>
                  <a:srgbClr val="FFFFFF"/>
                </a:solidFill>
                <a:latin typeface="Maiandra GD" pitchFamily="34" charset="0"/>
              </a:rPr>
              <a:t>Person</a:t>
            </a:r>
          </a:p>
        </p:txBody>
      </p:sp>
      <p:sp>
        <p:nvSpPr>
          <p:cNvPr id="42" name="Box 42"/>
          <p:cNvSpPr/>
          <p:nvPr/>
        </p:nvSpPr>
        <p:spPr>
          <a:xfrm>
            <a:off x="805000" y="2050000"/>
            <a:ext cx="1450000" cy="460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" name="Label 43"/>
          <p:cNvSpPr txBox="1"/>
          <p:nvPr/>
        </p:nvSpPr>
        <p:spPr>
          <a:xfrm>
            <a:off x="805000" y="2050000"/>
            <a:ext cx="1450000" cy="4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500" b="1" dirty="0">
                <a:solidFill>
                  <a:srgbClr val="1E2761"/>
                </a:solidFill>
                <a:latin typeface="Maiandra GD" pitchFamily="34" charset="0"/>
              </a:rPr>
              <a:t>Admin</a:t>
            </a:r>
          </a:p>
        </p:txBody>
      </p:sp>
      <p:sp>
        <p:nvSpPr>
          <p:cNvPr id="44" name="Box 44"/>
          <p:cNvSpPr/>
          <p:nvPr/>
        </p:nvSpPr>
        <p:spPr>
          <a:xfrm>
            <a:off x="2475000" y="2050000"/>
            <a:ext cx="1450000" cy="460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Label 45"/>
          <p:cNvSpPr txBox="1"/>
          <p:nvPr/>
        </p:nvSpPr>
        <p:spPr>
          <a:xfrm>
            <a:off x="2475000" y="2050000"/>
            <a:ext cx="1450000" cy="4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500" b="1" dirty="0">
                <a:solidFill>
                  <a:srgbClr val="1E2761"/>
                </a:solidFill>
                <a:latin typeface="Maiandra GD" pitchFamily="34" charset="0"/>
              </a:rPr>
              <a:t>Faculty</a:t>
            </a:r>
          </a:p>
        </p:txBody>
      </p:sp>
      <p:sp>
        <p:nvSpPr>
          <p:cNvPr id="46" name="Box 46"/>
          <p:cNvSpPr/>
          <p:nvPr/>
        </p:nvSpPr>
        <p:spPr>
          <a:xfrm>
            <a:off x="4145000" y="2050000"/>
            <a:ext cx="1450000" cy="460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7" name="Label 47"/>
          <p:cNvSpPr txBox="1"/>
          <p:nvPr/>
        </p:nvSpPr>
        <p:spPr>
          <a:xfrm>
            <a:off x="4145000" y="2050000"/>
            <a:ext cx="1450000" cy="4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500" b="1" dirty="0">
                <a:solidFill>
                  <a:srgbClr val="1E2761"/>
                </a:solidFill>
                <a:latin typeface="Maiandra GD" pitchFamily="34" charset="0"/>
              </a:rPr>
              <a:t>Student</a:t>
            </a:r>
          </a:p>
        </p:txBody>
      </p:sp>
      <p:cxnSp>
        <p:nvCxnSpPr>
          <p:cNvPr id="48" name="Line 48"/>
          <p:cNvCxnSpPr/>
          <p:nvPr/>
        </p:nvCxnSpPr>
        <p:spPr>
          <a:xfrm>
            <a:off x="3200000" y="1630000"/>
            <a:ext cx="0" cy="20000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</p:cxnSp>
      <p:cxnSp>
        <p:nvCxnSpPr>
          <p:cNvPr id="49" name="Line 49"/>
          <p:cNvCxnSpPr/>
          <p:nvPr/>
        </p:nvCxnSpPr>
        <p:spPr>
          <a:xfrm flipH="1">
            <a:off x="1530000" y="1830000"/>
            <a:ext cx="1670000" cy="22000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</p:cxnSp>
      <p:cxnSp>
        <p:nvCxnSpPr>
          <p:cNvPr id="50" name="Line 50"/>
          <p:cNvCxnSpPr/>
          <p:nvPr/>
        </p:nvCxnSpPr>
        <p:spPr>
          <a:xfrm>
            <a:off x="3200000" y="1830000"/>
            <a:ext cx="0" cy="22000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</p:cxnSp>
      <p:cxnSp>
        <p:nvCxnSpPr>
          <p:cNvPr id="51" name="Line 51"/>
          <p:cNvCxnSpPr/>
          <p:nvPr/>
        </p:nvCxnSpPr>
        <p:spPr>
          <a:xfrm>
            <a:off x="3200000" y="1830000"/>
            <a:ext cx="1670000" cy="220000"/>
          </a:xfrm>
          <a:prstGeom prst="line">
            <a:avLst/>
          </a:prstGeom>
          <a:ln w="19050">
            <a:solidFill>
              <a:srgbClr val="0070C0"/>
            </a:solidFill>
            <a:tailEnd type="triangle"/>
          </a:ln>
        </p:spPr>
      </p:cxnSp>
      <p:sp>
        <p:nvSpPr>
          <p:cNvPr id="52" name="Box 52"/>
          <p:cNvSpPr/>
          <p:nvPr/>
        </p:nvSpPr>
        <p:spPr>
          <a:xfrm>
            <a:off x="805000" y="3060000"/>
            <a:ext cx="4790000" cy="48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Box 53"/>
          <p:cNvSpPr txBox="1"/>
          <p:nvPr/>
        </p:nvSpPr>
        <p:spPr>
          <a:xfrm>
            <a:off x="905000" y="3060000"/>
            <a:ext cx="459000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lang="en-IN" sz="1400" b="1" dirty="0">
                <a:latin typeface="Maiandra GD" panose="020E0502030308020204" pitchFamily="34" charset="0"/>
              </a:rPr>
              <a:t>Platform  ·  Problem  ·  Submission  ·  Progress</a:t>
            </a:r>
          </a:p>
        </p:txBody>
      </p:sp>
      <p:sp>
        <p:nvSpPr>
          <p:cNvPr id="54" name="Label 54"/>
          <p:cNvSpPr txBox="1"/>
          <p:nvPr/>
        </p:nvSpPr>
        <p:spPr>
          <a:xfrm>
            <a:off x="805000" y="2710000"/>
            <a:ext cx="4790000" cy="3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1300" b="1" dirty="0">
                <a:solidFill>
                  <a:srgbClr val="808080"/>
                </a:solidFill>
                <a:latin typeface="Maiandra GD" pitchFamily="34" charset="0"/>
              </a:rPr>
              <a:t>Supporting Classes</a:t>
            </a:r>
          </a:p>
        </p:txBody>
      </p:sp>
      <p:sp>
        <p:nvSpPr>
          <p:cNvPr id="55" name="Box 55"/>
          <p:cNvSpPr/>
          <p:nvPr/>
        </p:nvSpPr>
        <p:spPr>
          <a:xfrm>
            <a:off x="6350000" y="1150000"/>
            <a:ext cx="5384800" cy="1150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6" name="Label 56"/>
          <p:cNvSpPr txBox="1"/>
          <p:nvPr/>
        </p:nvSpPr>
        <p:spPr>
          <a:xfrm>
            <a:off x="6350000" y="1250000"/>
            <a:ext cx="53848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700" b="1" dirty="0">
                <a:solidFill>
                  <a:srgbClr val="0070C0"/>
                </a:solidFill>
                <a:latin typeface="Maiandra GD" pitchFamily="34" charset="0"/>
              </a:rPr>
              <a:t>Encapsulation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70000" y="1670000"/>
            <a:ext cx="4944800" cy="59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0" indent="0">
              <a:lnSpc>
                <a:spcPct val="115000"/>
              </a:lnSpc>
              <a:buNone/>
            </a:pPr>
            <a:r>
              <a:rPr lang="en-IN" sz="1350" dirty="0">
                <a:latin typeface="Maiandra GD" panose="020E0502030308020204" pitchFamily="34" charset="0"/>
              </a:rPr>
              <a:t>Private data members (e.g. studentID) reached only through public get/set functions</a:t>
            </a:r>
          </a:p>
        </p:txBody>
      </p:sp>
      <p:sp>
        <p:nvSpPr>
          <p:cNvPr id="58" name="Box 58"/>
          <p:cNvSpPr/>
          <p:nvPr/>
        </p:nvSpPr>
        <p:spPr>
          <a:xfrm>
            <a:off x="6350000" y="2430000"/>
            <a:ext cx="5384800" cy="1150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9" name="Label 59"/>
          <p:cNvSpPr txBox="1"/>
          <p:nvPr/>
        </p:nvSpPr>
        <p:spPr>
          <a:xfrm>
            <a:off x="6350000" y="2530000"/>
            <a:ext cx="53848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700" b="1" dirty="0">
                <a:solidFill>
                  <a:srgbClr val="0070C0"/>
                </a:solidFill>
                <a:latin typeface="Maiandra GD" pitchFamily="34" charset="0"/>
              </a:rPr>
              <a:t>Inheritance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570000" y="2950000"/>
            <a:ext cx="4944800" cy="59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0" indent="0">
              <a:lnSpc>
                <a:spcPct val="115000"/>
              </a:lnSpc>
              <a:buNone/>
            </a:pPr>
            <a:r>
              <a:rPr lang="en-IN" sz="1350" dirty="0">
                <a:latin typeface="Maiandra GD" panose="020E0502030308020204" pitchFamily="34" charset="0"/>
              </a:rPr>
              <a:t>Admin, Faculty and Student inherit shared fields and behavior from Person</a:t>
            </a:r>
          </a:p>
        </p:txBody>
      </p:sp>
      <p:sp>
        <p:nvSpPr>
          <p:cNvPr id="61" name="Box 61"/>
          <p:cNvSpPr/>
          <p:nvPr/>
        </p:nvSpPr>
        <p:spPr>
          <a:xfrm>
            <a:off x="6350000" y="3710000"/>
            <a:ext cx="5384800" cy="1150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2" name="Label 62"/>
          <p:cNvSpPr txBox="1"/>
          <p:nvPr/>
        </p:nvSpPr>
        <p:spPr>
          <a:xfrm>
            <a:off x="6350000" y="3810000"/>
            <a:ext cx="53848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700" b="1" dirty="0">
                <a:solidFill>
                  <a:srgbClr val="0070C0"/>
                </a:solidFill>
                <a:latin typeface="Maiandra GD" pitchFamily="34" charset="0"/>
              </a:rPr>
              <a:t>Polymorphism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70000" y="4230000"/>
            <a:ext cx="4944800" cy="59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0" indent="0">
              <a:lnSpc>
                <a:spcPct val="115000"/>
              </a:lnSpc>
              <a:buNone/>
            </a:pPr>
            <a:r>
              <a:rPr lang="en-IN" sz="1350" dirty="0">
                <a:latin typeface="Maiandra GD" panose="020E0502030308020204" pitchFamily="34" charset="0"/>
              </a:rPr>
              <a:t>Each role overrides displayRole() with its own implementation</a:t>
            </a:r>
          </a:p>
        </p:txBody>
      </p:sp>
      <p:sp>
        <p:nvSpPr>
          <p:cNvPr id="64" name="Box 64"/>
          <p:cNvSpPr/>
          <p:nvPr/>
        </p:nvSpPr>
        <p:spPr>
          <a:xfrm>
            <a:off x="6350000" y="4990000"/>
            <a:ext cx="5384800" cy="11500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5" name="Label 65"/>
          <p:cNvSpPr txBox="1"/>
          <p:nvPr/>
        </p:nvSpPr>
        <p:spPr>
          <a:xfrm>
            <a:off x="6350000" y="5090000"/>
            <a:ext cx="53848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IN" sz="1700" b="1" dirty="0">
                <a:solidFill>
                  <a:srgbClr val="0070C0"/>
                </a:solidFill>
                <a:latin typeface="Maiandra GD" pitchFamily="34" charset="0"/>
              </a:rPr>
              <a:t>Abstraction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70000" y="5510000"/>
            <a:ext cx="4944800" cy="59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0" indent="0">
              <a:lnSpc>
                <a:spcPct val="115000"/>
              </a:lnSpc>
              <a:buNone/>
            </a:pPr>
            <a:r>
              <a:rPr lang="en-IN" sz="1350" dirty="0">
                <a:latin typeface="Maiandra GD" panose="020E0502030308020204" pitchFamily="34" charset="0"/>
              </a:rPr>
              <a:t>Student::recordSubmission() hides how a submission is stored internally</a:t>
            </a: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100000" y="232461"/>
            <a:ext cx="86348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2600" b="1" dirty="0">
              <a:solidFill>
                <a:srgbClr val="0070C0"/>
              </a:solidFill>
              <a:latin typeface="Maiandra GD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0D8F2D-3076-A134-E9E9-51914D3BF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052736"/>
            <a:ext cx="11039400" cy="5572803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3E2F0-083B-7B9B-D185-5143E41E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4F4294F-3DB3-4C0C-0F6F-43B45D64A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124744"/>
            <a:ext cx="10760124" cy="57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52757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100000" y="232461"/>
            <a:ext cx="8634800" cy="748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3000" b="1" dirty="0">
                <a:solidFill>
                  <a:srgbClr val="0070C0"/>
                </a:solidFill>
                <a:latin typeface="Maiandra GD" pitchFamily="34" charset="0"/>
              </a:rPr>
              <a:t>ROLE OF EACH INDIVIDUAL</a:t>
            </a:r>
          </a:p>
        </p:txBody>
      </p:sp>
      <p:sp>
        <p:nvSpPr>
          <p:cNvPr id="40" name="Box 40"/>
          <p:cNvSpPr/>
          <p:nvPr/>
        </p:nvSpPr>
        <p:spPr>
          <a:xfrm>
            <a:off x="457200" y="1200000"/>
            <a:ext cx="11277600" cy="78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1" name="Box 41"/>
          <p:cNvSpPr/>
          <p:nvPr/>
        </p:nvSpPr>
        <p:spPr>
          <a:xfrm>
            <a:off x="457200" y="1200000"/>
            <a:ext cx="3300000" cy="78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Box 42"/>
          <p:cNvSpPr txBox="1"/>
          <p:nvPr/>
        </p:nvSpPr>
        <p:spPr>
          <a:xfrm>
            <a:off x="607200" y="1200000"/>
            <a:ext cx="30000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sz="1500" b="1" dirty="0">
                <a:solidFill>
                  <a:srgbClr val="FFFFFF"/>
                </a:solidFill>
                <a:latin typeface="Maiandra GD" panose="020E0502030308020204" pitchFamily="34" charset="0"/>
              </a:rPr>
              <a:t>Member 1 – Team Lead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007200" y="1200000"/>
            <a:ext cx="74776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Maiandra GD" panose="020E0502030308020204" pitchFamily="34" charset="0"/>
              </a:rPr>
              <a:t>Overall project coordination; Person and Admin classes , testing, documentation and PPT</a:t>
            </a:r>
          </a:p>
        </p:txBody>
      </p:sp>
      <p:sp>
        <p:nvSpPr>
          <p:cNvPr id="44" name="Box 44"/>
          <p:cNvSpPr/>
          <p:nvPr/>
        </p:nvSpPr>
        <p:spPr>
          <a:xfrm>
            <a:off x="457200" y="2130000"/>
            <a:ext cx="11277600" cy="78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5" name="Box 45"/>
          <p:cNvSpPr/>
          <p:nvPr/>
        </p:nvSpPr>
        <p:spPr>
          <a:xfrm>
            <a:off x="457200" y="2130000"/>
            <a:ext cx="3300000" cy="78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Box 46"/>
          <p:cNvSpPr txBox="1"/>
          <p:nvPr/>
        </p:nvSpPr>
        <p:spPr>
          <a:xfrm>
            <a:off x="607200" y="2130000"/>
            <a:ext cx="30000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sz="1500" b="1" dirty="0">
                <a:solidFill>
                  <a:srgbClr val="FFFFFF"/>
                </a:solidFill>
                <a:latin typeface="Maiandra GD" panose="020E0502030308020204" pitchFamily="34" charset="0"/>
              </a:rPr>
              <a:t>Member 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007200" y="2130000"/>
            <a:ext cx="74776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Maiandra GD" panose="020E0502030308020204" pitchFamily="34" charset="0"/>
              </a:rPr>
              <a:t>Faculty and Problem modules, File handling</a:t>
            </a:r>
          </a:p>
          <a:p>
            <a:pPr marL="0" indent="0">
              <a:lnSpc>
                <a:spcPct val="130000"/>
              </a:lnSpc>
              <a:buNone/>
            </a:pPr>
            <a:endParaRPr lang="en-IN" sz="1600" dirty="0">
              <a:latin typeface="Maiandra GD" panose="020E0502030308020204" pitchFamily="34" charset="0"/>
            </a:endParaRPr>
          </a:p>
        </p:txBody>
      </p:sp>
      <p:sp>
        <p:nvSpPr>
          <p:cNvPr id="48" name="Box 48"/>
          <p:cNvSpPr/>
          <p:nvPr/>
        </p:nvSpPr>
        <p:spPr>
          <a:xfrm>
            <a:off x="457200" y="3060000"/>
            <a:ext cx="11277600" cy="78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9" name="Box 49"/>
          <p:cNvSpPr/>
          <p:nvPr/>
        </p:nvSpPr>
        <p:spPr>
          <a:xfrm>
            <a:off x="457200" y="3060000"/>
            <a:ext cx="3300000" cy="78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Box 50"/>
          <p:cNvSpPr txBox="1"/>
          <p:nvPr/>
        </p:nvSpPr>
        <p:spPr>
          <a:xfrm>
            <a:off x="607200" y="3060000"/>
            <a:ext cx="30000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sz="1500" b="1" dirty="0">
                <a:solidFill>
                  <a:srgbClr val="FFFFFF"/>
                </a:solidFill>
                <a:latin typeface="Maiandra GD" panose="020E0502030308020204" pitchFamily="34" charset="0"/>
              </a:rPr>
              <a:t>Member 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007200" y="3060000"/>
            <a:ext cx="74776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sz="1600" dirty="0">
                <a:latin typeface="Maiandra GD" panose="020E0502030308020204" pitchFamily="34" charset="0"/>
              </a:rPr>
              <a:t>Student and Submission modules</a:t>
            </a:r>
          </a:p>
        </p:txBody>
      </p:sp>
      <p:sp>
        <p:nvSpPr>
          <p:cNvPr id="52" name="Box 52"/>
          <p:cNvSpPr/>
          <p:nvPr/>
        </p:nvSpPr>
        <p:spPr>
          <a:xfrm>
            <a:off x="457200" y="3990000"/>
            <a:ext cx="11277600" cy="780000"/>
          </a:xfrm>
          <a:prstGeom prst="roundRect">
            <a:avLst>
              <a:gd name="adj" fmla="val 6000"/>
            </a:avLst>
          </a:prstGeom>
          <a:solidFill>
            <a:srgbClr val="F2F7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3" name="Box 53"/>
          <p:cNvSpPr/>
          <p:nvPr/>
        </p:nvSpPr>
        <p:spPr>
          <a:xfrm>
            <a:off x="457200" y="3990000"/>
            <a:ext cx="3300000" cy="78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Box 54"/>
          <p:cNvSpPr txBox="1"/>
          <p:nvPr/>
        </p:nvSpPr>
        <p:spPr>
          <a:xfrm>
            <a:off x="607200" y="3990000"/>
            <a:ext cx="30000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sz="1500" b="1" dirty="0">
                <a:solidFill>
                  <a:srgbClr val="FFFFFF"/>
                </a:solidFill>
                <a:latin typeface="Maiandra GD" panose="020E0502030308020204" pitchFamily="34" charset="0"/>
              </a:rPr>
              <a:t>Member 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07200" y="3990000"/>
            <a:ext cx="7477600" cy="7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IN" sz="1600" dirty="0">
                <a:latin typeface="Maiandra GD" panose="020E0502030308020204" pitchFamily="34" charset="0"/>
              </a:rPr>
              <a:t>Platform and Progress modules</a:t>
            </a: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7061</TotalTime>
  <Words>926</Words>
  <Application>Microsoft Office PowerPoint</Application>
  <PresentationFormat>Widescreen</PresentationFormat>
  <Paragraphs>150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Maiandra GD</vt:lpstr>
      <vt:lpstr>Times New Roman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Gadi Lalitha Jahnavi</cp:lastModifiedBy>
  <cp:revision>719</cp:revision>
  <cp:lastPrinted>2023-06-09T04:58:36Z</cp:lastPrinted>
  <dcterms:created xsi:type="dcterms:W3CDTF">2019-12-14T03:50:52Z</dcterms:created>
  <dcterms:modified xsi:type="dcterms:W3CDTF">2026-08-29T15:39:44Z</dcterms:modified>
</cp:coreProperties>
</file>